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6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1153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0F172A"/>
                </a:solidFill>
                <a:latin typeface="Yu Gothic UI"/>
              </a:rPr>
              <a:t>グループプログラミング演習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4748B"/>
                </a:solidFill>
                <a:latin typeface="Yu Gothic UI"/>
              </a:rPr>
              <a:t>役割分担で取り組むグループワーク（ライター／プログラマー／レビュアー）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048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859536"/>
            <a:ext cx="10655503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Yu Gothic UI"/>
              </a:rPr>
              <a:t>導入：本日の進め方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4751"/>
            <a:ext cx="10911535" cy="31180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 dirty="0">
                <a:solidFill>
                  <a:srgbClr val="475569"/>
                </a:solidFill>
                <a:latin typeface="Yu Gothic UI"/>
              </a:rPr>
              <a:t>●  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本日は</a:t>
            </a:r>
            <a:r>
              <a:rPr lang="en-US" sz="2000" b="0" dirty="0">
                <a:solidFill>
                  <a:srgbClr val="475569"/>
                </a:solidFill>
                <a:latin typeface="Yu Gothic UI"/>
              </a:rPr>
              <a:t>, 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グループでプログラミングに取り組んでいただきます</a:t>
            </a:r>
            <a:r>
              <a:rPr lang="en-US" sz="2000" dirty="0">
                <a:solidFill>
                  <a:srgbClr val="475569"/>
                </a:solidFill>
                <a:latin typeface="Yu Gothic UI"/>
              </a:rPr>
              <a:t>.</a:t>
            </a:r>
            <a:endParaRPr lang="en-US" sz="2000" b="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endParaRPr sz="2000" b="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 dirty="0">
                <a:solidFill>
                  <a:srgbClr val="475569"/>
                </a:solidFill>
                <a:latin typeface="Yu Gothic UI"/>
              </a:rPr>
              <a:t>●  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グループ内で</a:t>
            </a:r>
            <a:r>
              <a:rPr lang="en-US" sz="2000" b="0">
                <a:solidFill>
                  <a:srgbClr val="475569"/>
                </a:solidFill>
                <a:latin typeface="Yu Gothic UI"/>
              </a:rPr>
              <a:t>, </a:t>
            </a:r>
            <a:r>
              <a:rPr sz="2000" b="0">
                <a:solidFill>
                  <a:srgbClr val="475569"/>
                </a:solidFill>
                <a:latin typeface="Yu Gothic UI"/>
              </a:rPr>
              <a:t>次の3つの役割に分担して進めます</a:t>
            </a:r>
            <a:r>
              <a:rPr lang="en-US" sz="2000" b="0">
                <a:solidFill>
                  <a:srgbClr val="475569"/>
                </a:solidFill>
                <a:latin typeface="Yu Gothic UI"/>
              </a:rPr>
              <a:t>.</a:t>
            </a:r>
            <a:endParaRPr sz="2000" b="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00" b="0" dirty="0">
                <a:solidFill>
                  <a:srgbClr val="475569"/>
                </a:solidFill>
                <a:latin typeface="Yu Gothic UI"/>
              </a:rPr>
              <a:t>     ○  </a:t>
            </a:r>
            <a:r>
              <a:rPr sz="1900" b="0" dirty="0" err="1">
                <a:solidFill>
                  <a:srgbClr val="475569"/>
                </a:solidFill>
                <a:latin typeface="Yu Gothic UI"/>
              </a:rPr>
              <a:t>ライタ</a:t>
            </a:r>
            <a:r>
              <a:rPr sz="1900" b="0" dirty="0">
                <a:solidFill>
                  <a:srgbClr val="475569"/>
                </a:solidFill>
                <a:latin typeface="Yu Gothic UI"/>
              </a:rPr>
              <a:t>ー（</a:t>
            </a:r>
            <a:r>
              <a:rPr sz="1900" b="0" dirty="0" err="1">
                <a:solidFill>
                  <a:srgbClr val="475569"/>
                </a:solidFill>
                <a:latin typeface="Yu Gothic UI"/>
              </a:rPr>
              <a:t>コードを書く担当</a:t>
            </a:r>
            <a:r>
              <a:rPr sz="1900" b="0" dirty="0">
                <a:solidFill>
                  <a:srgbClr val="475569"/>
                </a:solidFill>
                <a:latin typeface="Yu Gothic UI"/>
              </a:rPr>
              <a:t>）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00" b="0" dirty="0">
                <a:solidFill>
                  <a:srgbClr val="475569"/>
                </a:solidFill>
                <a:latin typeface="Yu Gothic UI"/>
              </a:rPr>
              <a:t>     ○  </a:t>
            </a:r>
            <a:r>
              <a:rPr sz="1900" b="0" dirty="0" err="1">
                <a:solidFill>
                  <a:srgbClr val="475569"/>
                </a:solidFill>
                <a:latin typeface="Yu Gothic UI"/>
              </a:rPr>
              <a:t>プログラマ</a:t>
            </a:r>
            <a:r>
              <a:rPr sz="1900" b="0" dirty="0">
                <a:solidFill>
                  <a:srgbClr val="475569"/>
                </a:solidFill>
                <a:latin typeface="Yu Gothic UI"/>
              </a:rPr>
              <a:t>ー（</a:t>
            </a:r>
            <a:r>
              <a:rPr sz="1900" b="0" dirty="0" err="1">
                <a:solidFill>
                  <a:srgbClr val="475569"/>
                </a:solidFill>
                <a:latin typeface="Yu Gothic UI"/>
              </a:rPr>
              <a:t>実装方針を考える担当</a:t>
            </a:r>
            <a:r>
              <a:rPr sz="1900" b="0" dirty="0">
                <a:solidFill>
                  <a:srgbClr val="475569"/>
                </a:solidFill>
                <a:latin typeface="Yu Gothic UI"/>
              </a:rPr>
              <a:t>）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900" b="0" dirty="0">
                <a:solidFill>
                  <a:srgbClr val="475569"/>
                </a:solidFill>
                <a:latin typeface="Yu Gothic UI"/>
              </a:rPr>
              <a:t>     ○  </a:t>
            </a:r>
            <a:r>
              <a:rPr sz="1900" b="0" dirty="0" err="1">
                <a:solidFill>
                  <a:srgbClr val="475569"/>
                </a:solidFill>
                <a:latin typeface="Yu Gothic UI"/>
              </a:rPr>
              <a:t>レビュア</a:t>
            </a:r>
            <a:r>
              <a:rPr sz="1900" b="0" dirty="0">
                <a:solidFill>
                  <a:srgbClr val="475569"/>
                </a:solidFill>
                <a:latin typeface="Yu Gothic UI"/>
              </a:rPr>
              <a:t>ー（</a:t>
            </a:r>
            <a:r>
              <a:rPr sz="1900" b="0" dirty="0" err="1">
                <a:solidFill>
                  <a:srgbClr val="475569"/>
                </a:solidFill>
                <a:latin typeface="Yu Gothic UI"/>
              </a:rPr>
              <a:t>コードを確認する担当</a:t>
            </a:r>
            <a:r>
              <a:rPr sz="1900" b="0" dirty="0">
                <a:solidFill>
                  <a:srgbClr val="475569"/>
                </a:solidFill>
                <a:latin typeface="Yu Gothic UI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465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859536"/>
            <a:ext cx="10655503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Yu Gothic UI"/>
              </a:rPr>
              <a:t>導入：役割分担のルール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3566"/>
            <a:ext cx="10911535" cy="9762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 dirty="0">
                <a:solidFill>
                  <a:srgbClr val="475569"/>
                </a:solidFill>
                <a:latin typeface="Yu Gothic UI"/>
              </a:rPr>
              <a:t>●  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注意点</a:t>
            </a:r>
            <a:endParaRPr lang="en-US" sz="2000" b="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sz="2000" b="0" dirty="0">
                <a:solidFill>
                  <a:srgbClr val="475569"/>
                </a:solidFill>
                <a:latin typeface="Yu Gothic UI"/>
              </a:rPr>
              <a:t>	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それぞれの役割を遵守し</a:t>
            </a:r>
            <a:r>
              <a:rPr lang="en-US" sz="20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役割以上の内容は行わないでください</a:t>
            </a:r>
            <a:r>
              <a:rPr lang="en-US" sz="2000" dirty="0">
                <a:solidFill>
                  <a:srgbClr val="475569"/>
                </a:solidFill>
                <a:latin typeface="Yu Gothic UI"/>
              </a:rPr>
              <a:t>.</a:t>
            </a:r>
            <a:endParaRPr sz="2000" b="0" dirty="0">
              <a:solidFill>
                <a:srgbClr val="475569"/>
              </a:solidFill>
              <a:latin typeface="Yu Gothic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1229" y="3599997"/>
            <a:ext cx="9429724" cy="1586829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79" y="3705432"/>
            <a:ext cx="10454335" cy="165083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2000" dirty="0">
                <a:solidFill>
                  <a:srgbClr val="1E40AF"/>
                </a:solidFill>
                <a:latin typeface="Yu Gothic UI"/>
              </a:rPr>
              <a:t>※ </a:t>
            </a:r>
            <a:r>
              <a:rPr sz="2000" dirty="0" err="1">
                <a:solidFill>
                  <a:srgbClr val="1E40AF"/>
                </a:solidFill>
                <a:latin typeface="Yu Gothic UI"/>
              </a:rPr>
              <a:t>ライターはプログラム</a:t>
            </a:r>
            <a:r>
              <a:rPr lang="ja-JP" altLang="en-US" sz="2000">
                <a:solidFill>
                  <a:srgbClr val="1E40AF"/>
                </a:solidFill>
                <a:latin typeface="Yu Gothic UI"/>
              </a:rPr>
              <a:t>の内容や実装に関して話してはいけません</a:t>
            </a:r>
            <a:r>
              <a:rPr lang="en-US" altLang="ja-JP" sz="2000" dirty="0">
                <a:solidFill>
                  <a:srgbClr val="1E40AF"/>
                </a:solidFill>
                <a:latin typeface="Yu Gothic UI"/>
              </a:rPr>
              <a:t>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2000" dirty="0">
                <a:solidFill>
                  <a:srgbClr val="1E40AF"/>
                </a:solidFill>
                <a:latin typeface="Yu Gothic UI"/>
              </a:rPr>
              <a:t>※ </a:t>
            </a:r>
            <a:r>
              <a:rPr sz="2000" dirty="0" err="1">
                <a:solidFill>
                  <a:srgbClr val="1E40AF"/>
                </a:solidFill>
                <a:latin typeface="Yu Gothic UI"/>
              </a:rPr>
              <a:t>プログラムの内容は</a:t>
            </a:r>
            <a:r>
              <a:rPr lang="en-US" sz="2000" dirty="0">
                <a:solidFill>
                  <a:srgbClr val="1E40AF"/>
                </a:solidFill>
                <a:latin typeface="Yu Gothic UI"/>
              </a:rPr>
              <a:t>, </a:t>
            </a:r>
            <a:r>
              <a:rPr sz="2000" dirty="0" err="1">
                <a:solidFill>
                  <a:srgbClr val="1E40AF"/>
                </a:solidFill>
                <a:latin typeface="Yu Gothic UI"/>
              </a:rPr>
              <a:t>あくまでプログラマーとレビュアーの話し合いによって決定してください</a:t>
            </a:r>
            <a:r>
              <a:rPr lang="en-US" sz="2000" dirty="0">
                <a:solidFill>
                  <a:srgbClr val="1E40AF"/>
                </a:solidFill>
                <a:latin typeface="Yu Gothic UI"/>
              </a:rPr>
              <a:t>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ja-JP" sz="2000" dirty="0">
                <a:solidFill>
                  <a:srgbClr val="1E40AF"/>
                </a:solidFill>
                <a:latin typeface="Yu Gothic UI"/>
              </a:rPr>
              <a:t>※ </a:t>
            </a:r>
            <a:r>
              <a:rPr lang="ja-JP" altLang="en-US" sz="2000">
                <a:solidFill>
                  <a:srgbClr val="1E40AF"/>
                </a:solidFill>
                <a:latin typeface="Yu Gothic UI"/>
              </a:rPr>
              <a:t>役割をローテーションできるといいです</a:t>
            </a:r>
            <a:r>
              <a:rPr lang="en-US" altLang="ja-JP" sz="2000" dirty="0">
                <a:solidFill>
                  <a:srgbClr val="1E40AF"/>
                </a:solidFill>
                <a:latin typeface="Yu Gothic UI"/>
              </a:rPr>
              <a:t>. </a:t>
            </a:r>
            <a:endParaRPr lang="ja-JP" altLang="en-US" sz="2000">
              <a:solidFill>
                <a:srgbClr val="1E40AF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300"/>
              </a:spcAft>
            </a:pPr>
            <a:endParaRPr sz="2000" dirty="0">
              <a:solidFill>
                <a:srgbClr val="1E40AF"/>
              </a:solidFill>
              <a:latin typeface="Yu Gothic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465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975963"/>
            <a:ext cx="10655503" cy="4529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 err="1">
                <a:solidFill>
                  <a:srgbClr val="0F172A"/>
                </a:solidFill>
                <a:latin typeface="Yu Gothic UI"/>
              </a:rPr>
              <a:t>練習</a:t>
            </a:r>
            <a:r>
              <a:rPr lang="ja-JP" altLang="en-US" sz="2800" b="1" i="0">
                <a:solidFill>
                  <a:srgbClr val="0F172A"/>
                </a:solidFill>
                <a:latin typeface="Yu Gothic UI"/>
              </a:rPr>
              <a:t>問題</a:t>
            </a:r>
            <a:endParaRPr sz="2800" b="1" i="0" dirty="0">
              <a:solidFill>
                <a:srgbClr val="0F172A"/>
              </a:solidFill>
              <a:latin typeface="Yu Gothic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1600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2376" y="1828800"/>
            <a:ext cx="10829239" cy="1600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10280599" cy="7338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0F172A"/>
                </a:solidFill>
                <a:latin typeface="Yu Gothic UI"/>
              </a:rPr>
              <a:t>課題</a:t>
            </a:r>
            <a:endParaRPr sz="1700" b="1" dirty="0">
              <a:solidFill>
                <a:srgbClr val="0F172A"/>
              </a:solidFill>
              <a:latin typeface="Yu Gothic UI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dirty="0" err="1">
                <a:solidFill>
                  <a:srgbClr val="475569"/>
                </a:solidFill>
                <a:latin typeface="Yu Gothic UI"/>
              </a:rPr>
              <a:t>円の面積を求める関数を作成し</a:t>
            </a:r>
            <a:r>
              <a:rPr lang="en-US" sz="16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sz="1600" dirty="0" err="1">
                <a:solidFill>
                  <a:srgbClr val="475569"/>
                </a:solidFill>
                <a:latin typeface="Yu Gothic UI"/>
              </a:rPr>
              <a:t>正しい動作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をするか</a:t>
            </a:r>
            <a:r>
              <a:rPr sz="1600" dirty="0" err="1">
                <a:solidFill>
                  <a:srgbClr val="475569"/>
                </a:solidFill>
                <a:latin typeface="Yu Gothic UI"/>
              </a:rPr>
              <a:t>テストを行ってください</a:t>
            </a:r>
            <a:r>
              <a:rPr lang="en-US" sz="1600" dirty="0">
                <a:solidFill>
                  <a:srgbClr val="475569"/>
                </a:solidFill>
                <a:latin typeface="Yu Gothic UI"/>
              </a:rPr>
              <a:t>. </a:t>
            </a:r>
            <a:endParaRPr sz="1600" dirty="0">
              <a:solidFill>
                <a:srgbClr val="475569"/>
              </a:solidFill>
              <a:latin typeface="Yu Gothic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590622"/>
            <a:ext cx="82296" cy="2534569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2376" y="3590623"/>
            <a:ext cx="10829239" cy="253457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" y="3773503"/>
            <a:ext cx="10280599" cy="7317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0F172A"/>
                </a:solidFill>
                <a:latin typeface="Yu Gothic UI"/>
              </a:rPr>
              <a:t>課題2（余裕があるグループ向け）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475569"/>
                </a:solidFill>
                <a:latin typeface="Yu Gothic UI"/>
              </a:rPr>
              <a:t>2次方程式の解を求める関数を設計してください</a:t>
            </a:r>
            <a:r>
              <a:rPr lang="en-US" sz="1600" dirty="0">
                <a:solidFill>
                  <a:srgbClr val="475569"/>
                </a:solidFill>
                <a:latin typeface="Yu Gothic UI"/>
              </a:rPr>
              <a:t>.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こちらもテストをしてください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練習ラウンド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465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4 / 7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530C0552-8805-3E81-DB76-C50BB18E8E5E}"/>
              </a:ext>
            </a:extLst>
          </p:cNvPr>
          <p:cNvSpPr txBox="1"/>
          <p:nvPr/>
        </p:nvSpPr>
        <p:spPr>
          <a:xfrm>
            <a:off x="996696" y="2833751"/>
            <a:ext cx="10280599" cy="36753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円周率には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 </a:t>
            </a:r>
            <a:r>
              <a:rPr lang="en-US" altLang="ja-JP" sz="1600" b="1" dirty="0" err="1">
                <a:solidFill>
                  <a:srgbClr val="475569"/>
                </a:solidFill>
                <a:latin typeface="Yu Gothic UI"/>
              </a:rPr>
              <a:t>math.pi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を用いてください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</a:t>
            </a:r>
            <a:endParaRPr sz="1600" dirty="0">
              <a:solidFill>
                <a:srgbClr val="475569"/>
              </a:solidFill>
              <a:latin typeface="Yu Gothic UI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06F9A12-D452-A350-426F-62F74EB3F824}"/>
              </a:ext>
            </a:extLst>
          </p:cNvPr>
          <p:cNvSpPr txBox="1"/>
          <p:nvPr/>
        </p:nvSpPr>
        <p:spPr>
          <a:xfrm>
            <a:off x="996696" y="4595574"/>
            <a:ext cx="10280599" cy="10856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判別式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D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を用いて実装してください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虚数解は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”</a:t>
            </a:r>
            <a:r>
              <a:rPr lang="ja-JP" altLang="en-US" sz="1600" b="1">
                <a:solidFill>
                  <a:srgbClr val="475569"/>
                </a:solidFill>
                <a:latin typeface="Yu Gothic UI"/>
              </a:rPr>
              <a:t>解なし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”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と出力してください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平方根計算には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lang="en-US" altLang="ja-JP" sz="1600" b="1" dirty="0" err="1">
                <a:solidFill>
                  <a:srgbClr val="475569"/>
                </a:solidFill>
                <a:latin typeface="Yu Gothic UI"/>
              </a:rPr>
              <a:t>math.sqrt</a:t>
            </a:r>
            <a:r>
              <a:rPr lang="en-US" altLang="ja-JP" sz="1600" b="1" dirty="0">
                <a:solidFill>
                  <a:srgbClr val="475569"/>
                </a:solidFill>
                <a:latin typeface="Yu Gothic UI"/>
              </a:rPr>
              <a:t>(</a:t>
            </a:r>
            <a:r>
              <a:rPr lang="ja-JP" altLang="en-US" sz="1600" b="1">
                <a:solidFill>
                  <a:srgbClr val="475569"/>
                </a:solidFill>
                <a:latin typeface="Yu Gothic UI"/>
              </a:rPr>
              <a:t>変数名</a:t>
            </a:r>
            <a:r>
              <a:rPr lang="en-US" altLang="ja-JP" sz="1600" b="1" dirty="0">
                <a:solidFill>
                  <a:srgbClr val="475569"/>
                </a:solidFill>
                <a:latin typeface="Yu Gothic UI"/>
              </a:rPr>
              <a:t>)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が使えます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解が二つの場合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lang="en-US" altLang="ja-JP" sz="1600" b="1" dirty="0">
                <a:solidFill>
                  <a:srgbClr val="475569"/>
                </a:solidFill>
                <a:latin typeface="Yu Gothic UI"/>
              </a:rPr>
              <a:t>return (</a:t>
            </a:r>
            <a:r>
              <a:rPr lang="ja-JP" altLang="en-US" sz="1600" b="1">
                <a:solidFill>
                  <a:srgbClr val="475569"/>
                </a:solidFill>
                <a:latin typeface="Yu Gothic UI"/>
              </a:rPr>
              <a:t>変数</a:t>
            </a:r>
            <a:r>
              <a:rPr lang="en-US" altLang="ja-JP" sz="1600" b="1" dirty="0">
                <a:solidFill>
                  <a:srgbClr val="475569"/>
                </a:solidFill>
                <a:latin typeface="Yu Gothic UI"/>
              </a:rPr>
              <a:t>1, </a:t>
            </a:r>
            <a:r>
              <a:rPr lang="ja-JP" altLang="en-US" sz="1600" b="1">
                <a:solidFill>
                  <a:srgbClr val="475569"/>
                </a:solidFill>
                <a:latin typeface="Yu Gothic UI"/>
              </a:rPr>
              <a:t>変数</a:t>
            </a:r>
            <a:r>
              <a:rPr lang="en-US" altLang="ja-JP" sz="1600" b="1" dirty="0">
                <a:solidFill>
                  <a:srgbClr val="475569"/>
                </a:solidFill>
                <a:latin typeface="Yu Gothic UI"/>
              </a:rPr>
              <a:t>2)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のように返してください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      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変数名はなんでも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OK </a:t>
            </a:r>
            <a:endParaRPr sz="1600" dirty="0">
              <a:solidFill>
                <a:srgbClr val="475569"/>
              </a:solidFill>
              <a:latin typeface="Yu Gothic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859536"/>
            <a:ext cx="10655503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Yu Gothic UI"/>
              </a:rPr>
              <a:t>本番ラウンド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3352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2376" y="1828800"/>
            <a:ext cx="10829239" cy="33528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6" y="2011680"/>
            <a:ext cx="10280599" cy="73385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 err="1">
                <a:solidFill>
                  <a:srgbClr val="0F172A"/>
                </a:solidFill>
                <a:latin typeface="Yu Gothic UI"/>
              </a:rPr>
              <a:t>課題</a:t>
            </a:r>
            <a:endParaRPr sz="1700" b="1" dirty="0">
              <a:solidFill>
                <a:srgbClr val="0F172A"/>
              </a:solidFill>
              <a:latin typeface="Yu Gothic UI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dirty="0" err="1">
                <a:solidFill>
                  <a:srgbClr val="475569"/>
                </a:solidFill>
                <a:latin typeface="Yu Gothic UI"/>
              </a:rPr>
              <a:t>マルバツゲーム（三目並べ）を作成してください</a:t>
            </a:r>
            <a:r>
              <a:rPr sz="1600" dirty="0">
                <a:solidFill>
                  <a:srgbClr val="475569"/>
                </a:solidFill>
                <a:latin typeface="Yu Gothic UI"/>
              </a:rPr>
              <a:t>。</a:t>
            </a:r>
            <a:r>
              <a:rPr lang="en-US" sz="1600" dirty="0">
                <a:solidFill>
                  <a:srgbClr val="475569"/>
                </a:solidFill>
                <a:latin typeface="Yu Gothic U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本番ラウンド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465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5 / 7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FF159238-9EAF-0B4B-1A47-2402770172E5}"/>
              </a:ext>
            </a:extLst>
          </p:cNvPr>
          <p:cNvSpPr txBox="1"/>
          <p:nvPr/>
        </p:nvSpPr>
        <p:spPr>
          <a:xfrm>
            <a:off x="996696" y="3093007"/>
            <a:ext cx="10280599" cy="10877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マークを配置する関数を作成してください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勝敗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継続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引き分けを判定できる関数を作成してください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※ </a:t>
            </a:r>
            <a:r>
              <a:rPr lang="ja-JP" altLang="en-US" sz="1600">
                <a:solidFill>
                  <a:srgbClr val="475569"/>
                </a:solidFill>
                <a:latin typeface="Yu Gothic UI"/>
              </a:rPr>
              <a:t>ゲームの一連の流れを実装してください</a:t>
            </a:r>
            <a:r>
              <a:rPr lang="en-US" altLang="ja-JP" sz="1600" dirty="0">
                <a:solidFill>
                  <a:srgbClr val="475569"/>
                </a:solidFill>
                <a:latin typeface="Yu Gothic UI"/>
              </a:rPr>
              <a:t>.</a:t>
            </a:r>
            <a:endParaRPr sz="1600" dirty="0">
              <a:solidFill>
                <a:srgbClr val="475569"/>
              </a:solidFill>
              <a:latin typeface="Yu Gothic UI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AC8977C-5C55-134F-EF3E-18A879F3B4EF}"/>
              </a:ext>
            </a:extLst>
          </p:cNvPr>
          <p:cNvSpPr txBox="1"/>
          <p:nvPr/>
        </p:nvSpPr>
        <p:spPr>
          <a:xfrm>
            <a:off x="996696" y="4323636"/>
            <a:ext cx="10280599" cy="35394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lang="ja-JP" altLang="en-US" sz="1700" b="1">
                <a:solidFill>
                  <a:srgbClr val="0F172A"/>
                </a:solidFill>
                <a:latin typeface="Yu Gothic UI"/>
              </a:rPr>
              <a:t>制限時間</a:t>
            </a:r>
            <a:r>
              <a:rPr lang="en-US" altLang="ja-JP" sz="1700" b="1" dirty="0">
                <a:solidFill>
                  <a:srgbClr val="0F172A"/>
                </a:solidFill>
                <a:latin typeface="Yu Gothic UI"/>
              </a:rPr>
              <a:t> 35</a:t>
            </a:r>
            <a:r>
              <a:rPr lang="ja-JP" altLang="en-US" sz="1700" b="1">
                <a:solidFill>
                  <a:srgbClr val="0F172A"/>
                </a:solidFill>
                <a:latin typeface="Yu Gothic UI"/>
              </a:rPr>
              <a:t>分</a:t>
            </a:r>
            <a:endParaRPr sz="1700" b="1" dirty="0">
              <a:solidFill>
                <a:srgbClr val="0F172A"/>
              </a:solidFill>
              <a:latin typeface="Yu Gothic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8229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859536"/>
            <a:ext cx="10655503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Yu Gothic UI"/>
              </a:rPr>
              <a:t>振り返り・解説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11535" cy="64649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 dirty="0">
                <a:solidFill>
                  <a:srgbClr val="475569"/>
                </a:solidFill>
                <a:latin typeface="Yu Gothic UI"/>
              </a:rPr>
              <a:t>●  </a:t>
            </a:r>
            <a:r>
              <a:rPr sz="2000" b="0" dirty="0" err="1">
                <a:solidFill>
                  <a:srgbClr val="475569"/>
                </a:solidFill>
                <a:latin typeface="Yu Gothic UI"/>
              </a:rPr>
              <a:t>各チームの進捗を</a:t>
            </a:r>
            <a:r>
              <a:rPr lang="ja-JP" altLang="en-US" sz="2000" b="0">
                <a:solidFill>
                  <a:srgbClr val="475569"/>
                </a:solidFill>
                <a:latin typeface="Yu Gothic UI"/>
              </a:rPr>
              <a:t>共有</a:t>
            </a:r>
            <a:r>
              <a:rPr lang="en-US" altLang="ja-JP" sz="2000" b="0" dirty="0">
                <a:solidFill>
                  <a:srgbClr val="475569"/>
                </a:solidFill>
                <a:latin typeface="Yu Gothic UI"/>
              </a:rPr>
              <a:t>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endParaRPr lang="en-US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ja-JP" altLang="en-US" sz="2000" b="0">
                <a:solidFill>
                  <a:srgbClr val="475569"/>
                </a:solidFill>
                <a:latin typeface="Yu Gothic UI"/>
              </a:rPr>
              <a:t>●  なぜ今回の内容を行ったのか</a:t>
            </a:r>
            <a:endParaRPr lang="en-US" altLang="ja-JP" sz="2000" b="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	</a:t>
            </a:r>
            <a:r>
              <a:rPr lang="ja-JP" altLang="en-US" sz="2000" b="0">
                <a:solidFill>
                  <a:srgbClr val="475569"/>
                </a:solidFill>
                <a:latin typeface="Yu Gothic UI"/>
              </a:rPr>
              <a:t> ○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　コンペティション問題には生成</a:t>
            </a: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AI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を活用する</a:t>
            </a:r>
            <a:endParaRPr lang="en-US" altLang="ja-JP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altLang="ja-JP" sz="2000" b="0" dirty="0">
                <a:solidFill>
                  <a:srgbClr val="475569"/>
                </a:solidFill>
                <a:latin typeface="Yu Gothic UI"/>
              </a:rPr>
              <a:t>	 </a:t>
            </a:r>
            <a:r>
              <a:rPr lang="ja-JP" altLang="en-US" sz="2000" b="0">
                <a:solidFill>
                  <a:srgbClr val="475569"/>
                </a:solidFill>
                <a:latin typeface="Yu Gothic UI"/>
              </a:rPr>
              <a:t>○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　生成</a:t>
            </a: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AI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を用いる際に必要となる能力を身に付けたい</a:t>
            </a:r>
            <a:endParaRPr lang="en-US" altLang="ja-JP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		</a:t>
            </a:r>
            <a:r>
              <a:rPr lang="en-US" altLang="ja-JP" sz="2000" b="0" dirty="0">
                <a:solidFill>
                  <a:srgbClr val="475569"/>
                </a:solidFill>
                <a:latin typeface="Yu Gothic UI"/>
              </a:rPr>
              <a:t> </a:t>
            </a:r>
            <a:r>
              <a:rPr lang="ja-JP" altLang="en-US" sz="2000" b="0">
                <a:solidFill>
                  <a:srgbClr val="475569"/>
                </a:solidFill>
                <a:latin typeface="Yu Gothic UI"/>
              </a:rPr>
              <a:t>○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　問題の意図を汲み取る能力</a:t>
            </a:r>
            <a:endParaRPr lang="en-US" altLang="ja-JP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		</a:t>
            </a:r>
            <a:r>
              <a:rPr lang="ja-JP" altLang="en-US" sz="2000" b="0">
                <a:solidFill>
                  <a:srgbClr val="475569"/>
                </a:solidFill>
                <a:latin typeface="Yu Gothic UI"/>
              </a:rPr>
              <a:t> ○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　正しく他人に伝える能力</a:t>
            </a:r>
            <a:endParaRPr lang="en-US" altLang="ja-JP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			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→</a:t>
            </a: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 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同じ問題</a:t>
            </a: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, 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生成</a:t>
            </a: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AI</a:t>
            </a:r>
            <a:r>
              <a:rPr lang="ja-JP" altLang="en-US" sz="2000">
                <a:solidFill>
                  <a:srgbClr val="475569"/>
                </a:solidFill>
                <a:latin typeface="Yu Gothic UI"/>
              </a:rPr>
              <a:t>でも、命令の与え方によって出力される結果が違ってくる！！</a:t>
            </a:r>
            <a:endParaRPr lang="en-US" altLang="ja-JP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endParaRPr lang="en-US" altLang="ja-JP" sz="200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endParaRPr lang="en-US" altLang="ja-JP" sz="2000" b="0" dirty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lang="en-US" altLang="ja-JP" sz="2000" dirty="0">
                <a:solidFill>
                  <a:srgbClr val="475569"/>
                </a:solidFill>
                <a:latin typeface="Yu Gothic UI"/>
              </a:rPr>
              <a:t>	</a:t>
            </a:r>
            <a:endParaRPr lang="ja-JP" altLang="en-US" sz="2000" b="0">
              <a:solidFill>
                <a:srgbClr val="475569"/>
              </a:solidFill>
              <a:latin typeface="Yu Gothic UI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endParaRPr sz="2000" b="0" dirty="0">
              <a:solidFill>
                <a:srgbClr val="475569"/>
              </a:solidFill>
              <a:latin typeface="Yu Gothic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振り返り・解説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465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02336"/>
            <a:ext cx="10911535" cy="6400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60A5F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115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 dirty="0" err="1">
                <a:solidFill>
                  <a:srgbClr val="0F172A"/>
                </a:solidFill>
                <a:latin typeface="Yu Gothic UI"/>
              </a:rPr>
              <a:t>以上です</a:t>
            </a:r>
            <a:endParaRPr sz="3600" b="1" i="0" dirty="0">
              <a:solidFill>
                <a:srgbClr val="0F172A"/>
              </a:solidFill>
              <a:latin typeface="Yu Gothic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4335" y="64465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Yu Gothic U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180DA227C097943A395228D9111AE20" ma:contentTypeVersion="10" ma:contentTypeDescription="新しいドキュメントを作成します。" ma:contentTypeScope="" ma:versionID="f14024ea5bc1e57c6930019fe3b32112">
  <xsd:schema xmlns:xsd="http://www.w3.org/2001/XMLSchema" xmlns:xs="http://www.w3.org/2001/XMLSchema" xmlns:p="http://schemas.microsoft.com/office/2006/metadata/properties" xmlns:ns2="889064bd-b061-4dfd-8c88-ca3eb6aad7dd" xmlns:ns3="5f4bb769-f5ff-4180-9356-b627caf83aa7" targetNamespace="http://schemas.microsoft.com/office/2006/metadata/properties" ma:root="true" ma:fieldsID="d8d4e5dafa7083b3003638d6de2e045d" ns2:_="" ns3:_="">
    <xsd:import namespace="889064bd-b061-4dfd-8c88-ca3eb6aad7dd"/>
    <xsd:import namespace="5f4bb769-f5ff-4180-9356-b627caf83a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064bd-b061-4dfd-8c88-ca3eb6aad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fe395c4b-4dc9-4bd4-9fad-0172a41715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4bb769-f5ff-4180-9356-b627caf83aa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dd66532-ebd5-4e50-a289-7afdedf0f613}" ma:internalName="TaxCatchAll" ma:showField="CatchAllData" ma:web="5f4bb769-f5ff-4180-9356-b627caf83a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4bb769-f5ff-4180-9356-b627caf83aa7" xsi:nil="true"/>
    <lcf76f155ced4ddcb4097134ff3c332f xmlns="889064bd-b061-4dfd-8c88-ca3eb6aad7d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EAE6F8D-5E76-4015-851D-9284F75ECDB0}"/>
</file>

<file path=customXml/itemProps2.xml><?xml version="1.0" encoding="utf-8"?>
<ds:datastoreItem xmlns:ds="http://schemas.openxmlformats.org/officeDocument/2006/customXml" ds:itemID="{BA86ED2C-3254-42DD-BAA0-258F4F261E87}"/>
</file>

<file path=customXml/itemProps3.xml><?xml version="1.0" encoding="utf-8"?>
<ds:datastoreItem xmlns:ds="http://schemas.openxmlformats.org/officeDocument/2006/customXml" ds:itemID="{DA65739F-B231-4811-A4C9-7E7825376F1A}"/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375</Words>
  <Application>Microsoft Macintosh PowerPoint</Application>
  <PresentationFormat>ワイド画面</PresentationFormat>
  <Paragraphs>55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Yu Gothic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吉田　瞬吏</cp:lastModifiedBy>
  <cp:revision>7</cp:revision>
  <dcterms:created xsi:type="dcterms:W3CDTF">2013-01-27T09:14:16Z</dcterms:created>
  <dcterms:modified xsi:type="dcterms:W3CDTF">2026-07-14T07:01:38Z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0x0101005180DA227C097943A395228D9111AE20</vt:lpwstr>
  </property>
</Properties>
</file>